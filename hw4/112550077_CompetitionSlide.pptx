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a5fe6af58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a5fe6af58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5fe6af5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5fe6af5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a5fe6af58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a5fe6af58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5fe6af58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5fe6af58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5fe6af58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5fe6af58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Data preprocess</a:t>
            </a:r>
            <a:endParaRPr/>
          </a:p>
        </p:txBody>
      </p:sp>
      <p:sp>
        <p:nvSpPr>
          <p:cNvPr id="55" name="Google Shape;55;p13"/>
          <p:cNvSpPr txBox="1"/>
          <p:nvPr>
            <p:ph idx="1" type="body"/>
          </p:nvPr>
        </p:nvSpPr>
        <p:spPr>
          <a:xfrm>
            <a:off x="311700" y="1152475"/>
            <a:ext cx="8520600" cy="3653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zh-TW"/>
              <a:t>First, I resize all images to a uniform size so they can be properly fed into the network.</a:t>
            </a:r>
            <a:endParaRPr/>
          </a:p>
          <a:p>
            <a:pPr indent="0" lvl="0" marL="0" rtl="0" algn="l">
              <a:spcBef>
                <a:spcPts val="1200"/>
              </a:spcBef>
              <a:spcAft>
                <a:spcPts val="0"/>
              </a:spcAft>
              <a:buNone/>
            </a:pPr>
            <a:r>
              <a:rPr lang="zh-TW"/>
              <a:t>For data preprocessing, I apply two techniques:</a:t>
            </a:r>
            <a:endParaRPr/>
          </a:p>
          <a:p>
            <a:pPr indent="0" lvl="0" marL="0" rtl="0" algn="l">
              <a:spcBef>
                <a:spcPts val="1200"/>
              </a:spcBef>
              <a:spcAft>
                <a:spcPts val="0"/>
              </a:spcAft>
              <a:buNone/>
            </a:pPr>
            <a:r>
              <a:rPr lang="zh-TW"/>
              <a:t>1.Random horizontal flip</a:t>
            </a:r>
            <a:endParaRPr/>
          </a:p>
          <a:p>
            <a:pPr indent="0" lvl="0" marL="0" rtl="0" algn="l">
              <a:spcBef>
                <a:spcPts val="1200"/>
              </a:spcBef>
              <a:spcAft>
                <a:spcPts val="0"/>
              </a:spcAft>
              <a:buNone/>
            </a:pPr>
            <a:r>
              <a:rPr lang="zh-TW"/>
              <a:t>2.Normalization</a:t>
            </a:r>
            <a:endParaRPr/>
          </a:p>
          <a:p>
            <a:pPr indent="0" lvl="0" marL="0" rtl="0" algn="l">
              <a:spcBef>
                <a:spcPts val="1200"/>
              </a:spcBef>
              <a:spcAft>
                <a:spcPts val="0"/>
              </a:spcAft>
              <a:buNone/>
            </a:pPr>
            <a:r>
              <a:rPr lang="zh-TW"/>
              <a:t>These techniques help increase data diversity and reduce variance, allowing the model to generalize better across different types of images.</a:t>
            </a:r>
            <a:endParaRPr/>
          </a:p>
          <a:p>
            <a:pPr indent="0" lvl="0" marL="0" rtl="0" algn="l">
              <a:spcBef>
                <a:spcPts val="1200"/>
              </a:spcBef>
              <a:spcAft>
                <a:spcPts val="1200"/>
              </a:spcAft>
              <a:buNone/>
            </a:pPr>
            <a:r>
              <a:rPr lang="zh-TW"/>
              <a:t>Finally, I split the dataset into a training set and a validation set to evaluate the model’s performance during training.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231800" y="165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Model</a:t>
            </a:r>
            <a:endParaRPr/>
          </a:p>
        </p:txBody>
      </p:sp>
      <p:sp>
        <p:nvSpPr>
          <p:cNvPr id="61" name="Google Shape;61;p14"/>
          <p:cNvSpPr txBox="1"/>
          <p:nvPr>
            <p:ph idx="1" type="body"/>
          </p:nvPr>
        </p:nvSpPr>
        <p:spPr>
          <a:xfrm>
            <a:off x="151900" y="738075"/>
            <a:ext cx="5272500" cy="39465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zh-TW" sz="7116"/>
              <a:t>I use the EfficientNet models provided by torchvision to train my classifier.</a:t>
            </a:r>
            <a:endParaRPr sz="7116"/>
          </a:p>
          <a:p>
            <a:pPr indent="0" lvl="0" marL="0" rtl="0" algn="l">
              <a:spcBef>
                <a:spcPts val="1200"/>
              </a:spcBef>
              <a:spcAft>
                <a:spcPts val="0"/>
              </a:spcAft>
              <a:buNone/>
            </a:pPr>
            <a:r>
              <a:rPr lang="zh-TW" sz="7116"/>
              <a:t>Among different variants, I compared EfficientNet-B7 and EfficientNet-B5, and ultimately selected B7 as the architecture for my model.</a:t>
            </a:r>
            <a:endParaRPr sz="7116"/>
          </a:p>
          <a:p>
            <a:pPr indent="0" lvl="0" marL="0" rtl="0" algn="l">
              <a:spcBef>
                <a:spcPts val="1200"/>
              </a:spcBef>
              <a:spcAft>
                <a:spcPts val="0"/>
              </a:spcAft>
              <a:buNone/>
            </a:pPr>
            <a:r>
              <a:rPr lang="zh-TW" sz="7116"/>
              <a:t>To illustrate the idea, consider the structure of EfficientNet-B0.</a:t>
            </a:r>
            <a:endParaRPr sz="7116"/>
          </a:p>
          <a:p>
            <a:pPr indent="0" lvl="0" marL="0" rtl="0" algn="l">
              <a:spcBef>
                <a:spcPts val="1200"/>
              </a:spcBef>
              <a:spcAft>
                <a:spcPts val="0"/>
              </a:spcAft>
              <a:buNone/>
            </a:pPr>
            <a:r>
              <a:rPr lang="zh-TW" sz="7116"/>
              <a:t>EfficientNet scales a network efficiently by jointly increasing its depth, width, and input resolution according to a compound scaling coefficient 𝜙</a:t>
            </a:r>
            <a:endParaRPr sz="7116"/>
          </a:p>
          <a:p>
            <a:pPr indent="0" lvl="0" marL="0" rtl="0" algn="l">
              <a:spcBef>
                <a:spcPts val="1200"/>
              </a:spcBef>
              <a:spcAft>
                <a:spcPts val="0"/>
              </a:spcAft>
              <a:buNone/>
            </a:pPr>
            <a:r>
              <a:rPr lang="zh-TW" sz="7116"/>
              <a:t>Larger variants, such as EfficientNet-B7, use a higher value of 𝜙, which expands the network along all three dimensions in a balanced way and leads to better representational capacity.</a:t>
            </a:r>
            <a:endParaRPr sz="7116"/>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62" name="Google Shape;62;p14"/>
          <p:cNvPicPr preferRelativeResize="0"/>
          <p:nvPr/>
        </p:nvPicPr>
        <p:blipFill rotWithShape="1">
          <a:blip r:embed="rId3">
            <a:alphaModFix/>
          </a:blip>
          <a:srcRect b="-8561" l="-4638" r="-12485" t="-8561"/>
          <a:stretch/>
        </p:blipFill>
        <p:spPr>
          <a:xfrm>
            <a:off x="5305753" y="900625"/>
            <a:ext cx="4036725" cy="37319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305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Model</a:t>
            </a:r>
            <a:endParaRPr/>
          </a:p>
        </p:txBody>
      </p:sp>
      <p:sp>
        <p:nvSpPr>
          <p:cNvPr id="68" name="Google Shape;68;p15"/>
          <p:cNvSpPr txBox="1"/>
          <p:nvPr>
            <p:ph idx="1" type="body"/>
          </p:nvPr>
        </p:nvSpPr>
        <p:spPr>
          <a:xfrm>
            <a:off x="311700" y="8635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zh-TW"/>
              <a:t>Because EfficientNet-B7 has more parameters than B7, it is more precise to train on the dataset provided by the TA. In my experiments, B7 also achieved better performance than B5. The larger network capacity allows it to capture more complex features and patterns that smaller models, like B5, may miss.</a:t>
            </a:r>
            <a:endParaRPr/>
          </a:p>
        </p:txBody>
      </p:sp>
      <p:pic>
        <p:nvPicPr>
          <p:cNvPr id="69" name="Google Shape;69;p15"/>
          <p:cNvPicPr preferRelativeResize="0"/>
          <p:nvPr/>
        </p:nvPicPr>
        <p:blipFill>
          <a:blip r:embed="rId3">
            <a:alphaModFix/>
          </a:blip>
          <a:stretch>
            <a:fillRect/>
          </a:stretch>
        </p:blipFill>
        <p:spPr>
          <a:xfrm>
            <a:off x="2371977" y="2571750"/>
            <a:ext cx="5808799" cy="1940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325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Training</a:t>
            </a:r>
            <a:endParaRPr/>
          </a:p>
        </p:txBody>
      </p:sp>
      <p:sp>
        <p:nvSpPr>
          <p:cNvPr id="75" name="Google Shape;75;p16"/>
          <p:cNvSpPr txBox="1"/>
          <p:nvPr>
            <p:ph idx="1" type="body"/>
          </p:nvPr>
        </p:nvSpPr>
        <p:spPr>
          <a:xfrm>
            <a:off x="311700" y="10026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I use cross-entropy loss to quantify the discrepancy between the predicted and true labels during training.</a:t>
            </a:r>
            <a:endParaRPr/>
          </a:p>
          <a:p>
            <a:pPr indent="0" lvl="0" marL="0" rtl="0" algn="l">
              <a:spcBef>
                <a:spcPts val="1200"/>
              </a:spcBef>
              <a:spcAft>
                <a:spcPts val="1200"/>
              </a:spcAft>
              <a:buNone/>
            </a:pPr>
            <a:r>
              <a:rPr lang="zh-TW"/>
              <a:t>For optimization, I employ SGD, which provides a more robust and stable training process. Additionally, I incorporate a learning rate decay schedule to reduce the risk of overfitting and improve generalization.</a:t>
            </a:r>
            <a:endParaRPr/>
          </a:p>
        </p:txBody>
      </p:sp>
      <p:pic>
        <p:nvPicPr>
          <p:cNvPr id="76" name="Google Shape;76;p16"/>
          <p:cNvPicPr preferRelativeResize="0"/>
          <p:nvPr/>
        </p:nvPicPr>
        <p:blipFill>
          <a:blip r:embed="rId3">
            <a:alphaModFix/>
          </a:blip>
          <a:stretch>
            <a:fillRect/>
          </a:stretch>
        </p:blipFill>
        <p:spPr>
          <a:xfrm>
            <a:off x="3847222" y="2900075"/>
            <a:ext cx="4403451" cy="2073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Appendix</a:t>
            </a:r>
            <a:endParaRPr/>
          </a:p>
        </p:txBody>
      </p:sp>
      <p:pic>
        <p:nvPicPr>
          <p:cNvPr id="82" name="Google Shape;82;p17"/>
          <p:cNvPicPr preferRelativeResize="0"/>
          <p:nvPr/>
        </p:nvPicPr>
        <p:blipFill>
          <a:blip r:embed="rId3">
            <a:alphaModFix/>
          </a:blip>
          <a:stretch>
            <a:fillRect/>
          </a:stretch>
        </p:blipFill>
        <p:spPr>
          <a:xfrm>
            <a:off x="1631663" y="1152475"/>
            <a:ext cx="5880675" cy="33466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